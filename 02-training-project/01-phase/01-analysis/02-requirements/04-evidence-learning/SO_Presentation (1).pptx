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457200" y="2286000"/>
            <a:ext cx="8229600" cy="1371600"/>
          </a:xfrm>
          <a:prstGeom prst="rect">
            <a:avLst/>
          </a:prstGeom>
          <a:noFill/>
          <a:ln/>
        </p:spPr>
        <p:txBody>
          <a:bodyPr wrap="square" rtlCol="0" anchor="ctr"/>
          <a:lstStyle/>
          <a:p>
            <a:pPr algn="ctr" indent="0" marL="0">
              <a:buNone/>
            </a:pPr>
            <a:r>
              <a:rPr lang="en-US" sz="5400" b="1" dirty="0">
                <a:solidFill>
                  <a:srgbClr val="FFFFFF"/>
                </a:solidFill>
                <a:latin typeface="Calibri" pitchFamily="34" charset="0"/>
                <a:ea typeface="Calibri" pitchFamily="34" charset="-122"/>
                <a:cs typeface="Calibri" pitchFamily="34" charset="-120"/>
              </a:rPr>
              <a:t>ANALISIS Y DESARROLLO DE SOFTWARE</a:t>
            </a:r>
            <a:endParaRPr lang="en-US" sz="5400" dirty="0"/>
          </a:p>
        </p:txBody>
      </p:sp>
      <p:sp>
        <p:nvSpPr>
          <p:cNvPr id="3" name="Text 1"/>
          <p:cNvSpPr/>
          <p:nvPr/>
        </p:nvSpPr>
        <p:spPr>
          <a:xfrm>
            <a:off x="457200" y="3749040"/>
            <a:ext cx="8229600" cy="457200"/>
          </a:xfrm>
          <a:prstGeom prst="rect">
            <a:avLst/>
          </a:prstGeom>
          <a:noFill/>
          <a:ln/>
        </p:spPr>
        <p:txBody>
          <a:bodyPr wrap="square" rtlCol="0" anchor="ctr"/>
          <a:lstStyle/>
          <a:p>
            <a:pPr algn="ctr" indent="0" marL="0">
              <a:buNone/>
            </a:pPr>
            <a:r>
              <a:rPr lang="en-US" sz="1800" dirty="0">
                <a:solidFill>
                  <a:srgbClr val="E8E8E8"/>
                </a:solidFill>
                <a:latin typeface="Calibri" pitchFamily="34" charset="0"/>
                <a:ea typeface="Calibri" pitchFamily="34" charset="-122"/>
                <a:cs typeface="Calibri" pitchFamily="34" charset="-120"/>
              </a:rPr>
              <a:t>TRABAJO EN CLASE</a:t>
            </a:r>
            <a:endParaRPr lang="en-US" sz="1800" dirty="0"/>
          </a:p>
        </p:txBody>
      </p:sp>
      <p:sp>
        <p:nvSpPr>
          <p:cNvPr id="4" name="Text 2"/>
          <p:cNvSpPr/>
          <p:nvPr/>
        </p:nvSpPr>
        <p:spPr>
          <a:xfrm>
            <a:off x="457200" y="4251960"/>
            <a:ext cx="8229600" cy="457200"/>
          </a:xfrm>
          <a:prstGeom prst="rect">
            <a:avLst/>
          </a:prstGeom>
          <a:noFill/>
          <a:ln/>
        </p:spPr>
        <p:txBody>
          <a:bodyPr wrap="square" rtlCol="0" anchor="ctr"/>
          <a:lstStyle/>
          <a:p>
            <a:pPr algn="ctr" indent="0" marL="0">
              <a:buNone/>
            </a:pPr>
            <a:r>
              <a:rPr lang="en-US" sz="1400" dirty="0">
                <a:solidFill>
                  <a:srgbClr val="505050"/>
                </a:solidFill>
                <a:latin typeface="Calibri" pitchFamily="34" charset="0"/>
                <a:ea typeface="Calibri" pitchFamily="34" charset="-122"/>
                <a:cs typeface="Calibri" pitchFamily="34" charset="-120"/>
              </a:rPr>
              <a:t>INSTRUCTOR: JUAN CARLOS RODRIGUEZ LOSADA</a:t>
            </a:r>
            <a:endParaRPr lang="en-US" sz="1400" dirty="0"/>
          </a:p>
        </p:txBody>
      </p:sp>
      <p:sp>
        <p:nvSpPr>
          <p:cNvPr id="5" name="Text 3"/>
          <p:cNvSpPr/>
          <p:nvPr/>
        </p:nvSpPr>
        <p:spPr>
          <a:xfrm>
            <a:off x="457200" y="4754880"/>
            <a:ext cx="8229600" cy="457200"/>
          </a:xfrm>
          <a:prstGeom prst="rect">
            <a:avLst/>
          </a:prstGeom>
          <a:noFill/>
          <a:ln/>
        </p:spPr>
        <p:txBody>
          <a:bodyPr wrap="square" rtlCol="0" anchor="ctr"/>
          <a:lstStyle/>
          <a:p>
            <a:pPr algn="ctr" indent="0" marL="0">
              <a:buNone/>
            </a:pPr>
            <a:r>
              <a:rPr lang="en-US" sz="1400" dirty="0">
                <a:solidFill>
                  <a:srgbClr val="505050"/>
                </a:solidFill>
                <a:latin typeface="Calibri" pitchFamily="34" charset="0"/>
                <a:ea typeface="Calibri" pitchFamily="34" charset="-122"/>
                <a:cs typeface="Calibri" pitchFamily="34" charset="-120"/>
              </a:rPr>
              <a:t>REALIZADO POR: TOMAS BARRERA ORTIZ - FICHA: 3413974</a:t>
            </a:r>
            <a:endParaRPr lang="en-US" sz="1400" dirty="0"/>
          </a:p>
        </p:txBody>
      </p:sp>
      <p:sp>
        <p:nvSpPr>
          <p:cNvPr id="6" name="Text 4"/>
          <p:cNvSpPr/>
          <p:nvPr/>
        </p:nvSpPr>
        <p:spPr>
          <a:xfrm>
            <a:off x="457200" y="5257800"/>
            <a:ext cx="8229600" cy="457200"/>
          </a:xfrm>
          <a:prstGeom prst="rect">
            <a:avLst/>
          </a:prstGeom>
          <a:noFill/>
          <a:ln/>
        </p:spPr>
        <p:txBody>
          <a:bodyPr wrap="square" rtlCol="0" anchor="ctr"/>
          <a:lstStyle/>
          <a:p>
            <a:pPr algn="ctr" indent="0" marL="0">
              <a:buNone/>
            </a:pPr>
            <a:r>
              <a:rPr lang="en-US" sz="1400" dirty="0">
                <a:solidFill>
                  <a:srgbClr val="505050"/>
                </a:solidFill>
                <a:latin typeface="Calibri" pitchFamily="34" charset="0"/>
                <a:ea typeface="Calibri" pitchFamily="34" charset="-122"/>
                <a:cs typeface="Calibri" pitchFamily="34" charset="-120"/>
              </a:rPr>
              <a:t>SENA CIES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¿Qué es un sistema operativo?</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Es el software principal o conjunto de programas que gestiona el hardware de una computadora y proporciona los servicios básicos para que otras aplicaciones puedan funcionar.</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Mencione tres ejemplos de sistemas operativos</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Windows, Linux, macOS.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¿Cuál es la función principal del sistema operativo?</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Actuar como un administrador de recurso permitiendo gestionar procesos, de la Gestion de Memoria, Gestion de archivos y gestión de dispositivos.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¿Qué diferencia existe entre un sistema operativo móvil y uno de computador?</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Aunque ambos comparten el mismo propósito principal (gestionar el hardware y permitir que corran aplicaciones), están diseñados bajo filosofías y limitaciones físicas completamente opuestas como la La seguridad, arquitectura de Hardware, las interfaces; que el de los computadores se centra en la precisión del ratón, teclado, atajos complejos y configuraciones multi-monitor.</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¿Por qué es importante el sistema operativo en un computador?</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Porque sin el sistema operativo el computador queda hecho solo un objeto, al que no le será posible interactuar mas allá del tacto, porque es gracias al SO que podemos comunicarnos directamente con nuestra tarjeta de video, disco duro o teclado.</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¿Cuántas capas tiene?</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Tiene 4 capas:</a:t>
            </a:r>
            <a:endParaRPr lang="en-US" sz="1400" dirty="0"/>
          </a:p>
          <a:p>
            <a:pPr algn="l" indent="0" marL="0">
              <a:buNone/>
            </a:pPr>
            <a:endParaRPr lang="en-US" sz="1400" dirty="0"/>
          </a:p>
          <a:p>
            <a:pPr algn="l" indent="0" marL="0">
              <a:buNone/>
            </a:pPr>
            <a:r>
              <a:rPr lang="en-US" sz="1400" dirty="0">
                <a:solidFill>
                  <a:srgbClr val="2D2D2D"/>
                </a:solidFill>
                <a:latin typeface="Calibri" pitchFamily="34" charset="0"/>
                <a:ea typeface="Calibri" pitchFamily="34" charset="-122"/>
                <a:cs typeface="Calibri" pitchFamily="34" charset="-120"/>
              </a:rPr>
              <a:t>• El Núcleo (Kernel): La capa más baja e interna, en contacto directo con las señales del hardware.</a:t>
            </a:r>
            <a:endParaRPr lang="en-US" sz="1400" dirty="0"/>
          </a:p>
          <a:p>
            <a:pPr algn="l" indent="0" marL="0">
              <a:buNone/>
            </a:pPr>
            <a:r>
              <a:rPr lang="en-US" sz="1400" dirty="0">
                <a:solidFill>
                  <a:srgbClr val="2D2D2D"/>
                </a:solidFill>
                <a:latin typeface="Calibri" pitchFamily="34" charset="0"/>
                <a:ea typeface="Calibri" pitchFamily="34" charset="-122"/>
                <a:cs typeface="Calibri" pitchFamily="34" charset="-120"/>
              </a:rPr>
              <a:t>• Controladores (Drivers): Módulos de software intermedios que le enseñan al kernel cómo hablar con un componente específico.</a:t>
            </a:r>
            <a:endParaRPr lang="en-US" sz="1400" dirty="0"/>
          </a:p>
          <a:p>
            <a:pPr algn="l" indent="0" marL="0">
              <a:buNone/>
            </a:pPr>
            <a:r>
              <a:rPr lang="en-US" sz="1400" dirty="0">
                <a:solidFill>
                  <a:srgbClr val="2D2D2D"/>
                </a:solidFill>
                <a:latin typeface="Calibri" pitchFamily="34" charset="0"/>
                <a:ea typeface="Calibri" pitchFamily="34" charset="-122"/>
                <a:cs typeface="Calibri" pitchFamily="34" charset="-120"/>
              </a:rPr>
              <a:t>• Sistema de Archivos y Servicios: Capa encargada de la lógica de cómo estructurar los datos y gestionar la memoria virtual.</a:t>
            </a:r>
            <a:endParaRPr lang="en-US" sz="1400" dirty="0"/>
          </a:p>
          <a:p>
            <a:pPr algn="l" indent="0" marL="0">
              <a:buNone/>
            </a:pPr>
            <a:r>
              <a:rPr lang="en-US" sz="1400" dirty="0">
                <a:solidFill>
                  <a:srgbClr val="2D2D2D"/>
                </a:solidFill>
                <a:latin typeface="Calibri" pitchFamily="34" charset="0"/>
                <a:ea typeface="Calibri" pitchFamily="34" charset="-122"/>
                <a:cs typeface="Calibri" pitchFamily="34" charset="-120"/>
              </a:rPr>
              <a:t>• Interfaz de Programación de Aplicaciones (API / System Calls): Las compuertas externas que exponen las funciones seguras del sistema hacia las aplicaciones finales.</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Capa 1: El Núcleo (Kernel)</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La capa más baja e interna, en contacto directo con las señales del hardware.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Capa 2: Controladores (Drivers)</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Módulos de software intermedios que le enseñan al kernel cómo hablar con un componente específico.</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Capa 3: Sistema de Archivos y Servicios</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Capa encargada de la lógica de cómo estructurar los datos y gestionar la memoria virtual.</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0"/>
          </a:xfrm>
          <a:prstGeom prst="rect">
            <a:avLst/>
          </a:prstGeom>
          <a:solidFill>
            <a:srgbClr val="2D2D2D"/>
          </a:solidFill>
          <a:ln/>
        </p:spPr>
      </p:sp>
      <p:sp>
        <p:nvSpPr>
          <p:cNvPr id="3" name="Text 1"/>
          <p:cNvSpPr/>
          <p:nvPr/>
        </p:nvSpPr>
        <p:spPr>
          <a:xfrm>
            <a:off x="457200" y="137160"/>
            <a:ext cx="8229600" cy="457200"/>
          </a:xfrm>
          <a:prstGeom prst="rect">
            <a:avLst/>
          </a:prstGeom>
          <a:noFill/>
          <a:ln/>
        </p:spPr>
        <p:txBody>
          <a:bodyPr wrap="square"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Capa 4: Interfaz de Programación de Aplicaciones (API / System Calls)</a:t>
            </a:r>
            <a:endParaRPr lang="en-US" sz="3200" dirty="0"/>
          </a:p>
        </p:txBody>
      </p:sp>
      <p:sp>
        <p:nvSpPr>
          <p:cNvPr id="4" name="Text 2"/>
          <p:cNvSpPr/>
          <p:nvPr/>
        </p:nvSpPr>
        <p:spPr>
          <a:xfrm>
            <a:off x="640080" y="1097280"/>
            <a:ext cx="7863840" cy="5303520"/>
          </a:xfrm>
          <a:prstGeom prst="rect">
            <a:avLst/>
          </a:prstGeom>
          <a:noFill/>
          <a:ln/>
        </p:spPr>
        <p:txBody>
          <a:bodyPr wrap="square" rtlCol="0" anchor="ctr"/>
          <a:lstStyle/>
          <a:p>
            <a:pPr algn="l" indent="0" marL="0">
              <a:buNone/>
            </a:pPr>
            <a:r>
              <a:rPr lang="en-US" sz="1400" dirty="0">
                <a:solidFill>
                  <a:srgbClr val="2D2D2D"/>
                </a:solidFill>
                <a:latin typeface="Calibri" pitchFamily="34" charset="0"/>
                <a:ea typeface="Calibri" pitchFamily="34" charset="-122"/>
                <a:cs typeface="Calibri" pitchFamily="34" charset="-120"/>
              </a:rPr>
              <a:t>Las compuertas externas que exponen las funciones seguras del sistema hacia las aplicaciones finales.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A1A1A"/>
        </a:solidFill>
      </p:bgPr>
    </p:bg>
    <p:spTree>
      <p:nvGrpSpPr>
        <p:cNvPr id="1" name=""/>
        <p:cNvGrpSpPr/>
        <p:nvPr/>
      </p:nvGrpSpPr>
      <p:grpSpPr>
        <a:xfrm>
          <a:off x="0" y="0"/>
          <a:ext cx="0" cy="0"/>
          <a:chOff x="0" y="0"/>
          <a:chExt cx="0" cy="0"/>
        </a:xfrm>
      </p:grpSpPr>
      <p:sp>
        <p:nvSpPr>
          <p:cNvPr id="2" name="Text 0"/>
          <p:cNvSpPr/>
          <p:nvPr/>
        </p:nvSpPr>
        <p:spPr>
          <a:xfrm>
            <a:off x="457200" y="731520"/>
            <a:ext cx="8229600" cy="640080"/>
          </a:xfrm>
          <a:prstGeom prst="rect">
            <a:avLst/>
          </a:prstGeom>
          <a:noFill/>
          <a:ln/>
        </p:spPr>
        <p:txBody>
          <a:bodyPr wrap="square"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Conclusión</a:t>
            </a:r>
            <a:endParaRPr lang="en-US" sz="4400" dirty="0"/>
          </a:p>
        </p:txBody>
      </p:sp>
      <p:sp>
        <p:nvSpPr>
          <p:cNvPr id="3" name="Text 1"/>
          <p:cNvSpPr/>
          <p:nvPr/>
        </p:nvSpPr>
        <p:spPr>
          <a:xfrm>
            <a:off x="640080" y="1645920"/>
            <a:ext cx="7863840" cy="4754880"/>
          </a:xfrm>
          <a:prstGeom prst="rect">
            <a:avLst/>
          </a:prstGeom>
          <a:noFill/>
          <a:ln/>
        </p:spPr>
        <p:txBody>
          <a:bodyPr wrap="square" rtlCol="0" anchor="ctr"/>
          <a:lstStyle/>
          <a:p>
            <a:pPr algn="l" indent="0" marL="0">
              <a:buNone/>
            </a:pPr>
            <a:r>
              <a:rPr lang="en-US" sz="1400" dirty="0">
                <a:solidFill>
                  <a:srgbClr val="E8E8E8"/>
                </a:solidFill>
                <a:latin typeface="Calibri" pitchFamily="34" charset="0"/>
                <a:ea typeface="Calibri" pitchFamily="34" charset="-122"/>
                <a:cs typeface="Calibri" pitchFamily="34" charset="-120"/>
              </a:rPr>
              <a:t>El sistema operativo es un componente fundamental en cualquier computadora. Su importancia radica en que actúa como intermediario entre el usuario/aplicaciones y el hardware, permitiendo una gestión eficiente de recursos. La arquitectura de capas bien definida garantiza seguridad, estabilidad y accesibilidad.</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2026-05-22T03:22:06Z</dcterms:created>
  <dcterms:modified xsi:type="dcterms:W3CDTF">2026-05-22T03:22:06Z</dcterms:modified>
</cp:coreProperties>
</file>